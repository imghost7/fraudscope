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0" r:id="rId3"/>
    <p:sldId id="314" r:id="rId4"/>
    <p:sldId id="315" r:id="rId5"/>
    <p:sldId id="301" r:id="rId6"/>
    <p:sldId id="302" r:id="rId7"/>
    <p:sldId id="303" r:id="rId8"/>
    <p:sldId id="304" r:id="rId9"/>
    <p:sldId id="305" r:id="rId10"/>
    <p:sldId id="306" r:id="rId11"/>
    <p:sldId id="307" r:id="rId12"/>
    <p:sldId id="308" r:id="rId13"/>
    <p:sldId id="309" r:id="rId14"/>
    <p:sldId id="310" r:id="rId15"/>
    <p:sldId id="311" r:id="rId16"/>
    <p:sldId id="312" r:id="rId17"/>
    <p:sldId id="298" r:id="rId18"/>
    <p:sldId id="31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6526"/>
            <a:ext cx="8229600" cy="590587"/>
          </a:xfrm>
        </p:spPr>
        <p:txBody>
          <a:bodyPr>
            <a:normAutofit/>
          </a:bodyPr>
          <a:lstStyle>
            <a:lvl1pPr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04231"/>
            <a:ext cx="8229600" cy="5618603"/>
          </a:xfrm>
        </p:spPr>
        <p:txBody>
          <a:bodyPr/>
          <a:lstStyle>
            <a:lvl1pP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510969"/>
            <a:ext cx="2133600" cy="210506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510969"/>
            <a:ext cx="2895600" cy="210506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510969"/>
            <a:ext cx="2133600" cy="210506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FraudScope: Temporal Graph Learning for Financial Fraud Analysis</a:t>
            </a:r>
          </a:p>
          <a:p>
            <a:r>
              <a:rPr dirty="0"/>
              <a:t>Agastya [</a:t>
            </a:r>
            <a:r>
              <a:rPr lang="en-US" dirty="0"/>
              <a:t>35], </a:t>
            </a:r>
            <a:r>
              <a:rPr lang="en-IN" dirty="0"/>
              <a:t>Aamir [</a:t>
            </a:r>
            <a:r>
              <a:rPr lang="en-US" dirty="0"/>
              <a:t>36], </a:t>
            </a:r>
            <a:r>
              <a:rPr dirty="0" err="1"/>
              <a:t>Taanshu</a:t>
            </a:r>
            <a:r>
              <a:rPr dirty="0"/>
              <a:t> [</a:t>
            </a:r>
            <a:r>
              <a:rPr lang="en-US" dirty="0"/>
              <a:t>37], </a:t>
            </a:r>
            <a:r>
              <a:rPr lang="en-US" dirty="0" err="1"/>
              <a:t>Aveel</a:t>
            </a:r>
            <a:r>
              <a:rPr lang="en-US" dirty="0"/>
              <a:t> Lewis [38]</a:t>
            </a:r>
          </a:p>
          <a:p>
            <a:r>
              <a:rPr dirty="0"/>
              <a:t>Course: DL Mini Project</a:t>
            </a:r>
          </a:p>
          <a:p>
            <a:pPr>
              <a:buNone/>
            </a:pPr>
            <a:endParaRPr dirty="0"/>
          </a:p>
          <a:p>
            <a:r>
              <a:rPr dirty="0"/>
              <a:t>Department of Artificial Intelligence and Machine Learning</a:t>
            </a:r>
          </a:p>
          <a:p>
            <a:r>
              <a:rPr dirty="0"/>
              <a:t>St. Francis Institute of Technology (SFIT)</a:t>
            </a:r>
          </a:p>
          <a:p>
            <a:pPr>
              <a:buNone/>
            </a:pPr>
            <a:endParaRPr dirty="0"/>
          </a:p>
          <a:p>
            <a:r>
              <a:rPr dirty="0"/>
              <a:t>Guide: Joanne Gomes</a:t>
            </a:r>
          </a:p>
          <a:p>
            <a:r>
              <a:rPr dirty="0"/>
              <a:t>T.E. Semester V, Academic Year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C3F9-77A1-3992-8D56-C338D59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4C153-8841-BAE6-D766-98BBCCAED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Literature Survey Summary Table</a:t>
            </a:r>
          </a:p>
          <a:p>
            <a:pPr>
              <a:buFont typeface="+mj-lt"/>
              <a:buAutoNum type="arabicPeriod"/>
            </a:pPr>
            <a:r>
              <a:rPr lang="en-US" dirty="0"/>
              <a:t>Research Gaps</a:t>
            </a:r>
          </a:p>
          <a:p>
            <a:pPr>
              <a:buFont typeface="+mj-lt"/>
              <a:buAutoNum type="arabicPeriod"/>
            </a:pPr>
            <a:r>
              <a:rPr lang="en-US" dirty="0"/>
              <a:t>Problem Statement and Objectives</a:t>
            </a:r>
          </a:p>
          <a:p>
            <a:pPr>
              <a:buFont typeface="+mj-lt"/>
              <a:buAutoNum type="arabicPeriod"/>
            </a:pPr>
            <a:r>
              <a:rPr lang="en-US" dirty="0"/>
              <a:t>Proposed System and Methodology</a:t>
            </a:r>
          </a:p>
          <a:p>
            <a:pPr>
              <a:buFont typeface="+mj-lt"/>
              <a:buAutoNum type="arabicPeriod"/>
            </a:pPr>
            <a:r>
              <a:rPr lang="en-US" dirty="0"/>
              <a:t>System Block Diagram</a:t>
            </a:r>
          </a:p>
          <a:p>
            <a:pPr>
              <a:buFont typeface="+mj-lt"/>
              <a:buAutoNum type="arabicPeriod"/>
            </a:pPr>
            <a:r>
              <a:rPr lang="en-US" dirty="0"/>
              <a:t>Dataset Description and Preprocessing</a:t>
            </a:r>
          </a:p>
          <a:p>
            <a:pPr>
              <a:buFont typeface="+mj-lt"/>
              <a:buAutoNum type="arabicPeriod"/>
            </a:pPr>
            <a:r>
              <a:rPr lang="en-US" dirty="0"/>
              <a:t>Deep Learning Model Architecture</a:t>
            </a:r>
          </a:p>
          <a:p>
            <a:pPr>
              <a:buFont typeface="+mj-lt"/>
              <a:buAutoNum type="arabicPeriod"/>
            </a:pPr>
            <a:r>
              <a:rPr lang="en-US" dirty="0"/>
              <a:t>Tools, Technologies and Environment</a:t>
            </a:r>
          </a:p>
          <a:p>
            <a:pPr>
              <a:buFont typeface="+mj-lt"/>
              <a:buAutoNum type="arabicPeriod"/>
            </a:pPr>
            <a:r>
              <a:rPr lang="en-US" dirty="0"/>
              <a:t>Implementation Details</a:t>
            </a:r>
          </a:p>
          <a:p>
            <a:pPr>
              <a:buFont typeface="+mj-lt"/>
              <a:buAutoNum type="arabicPeriod"/>
            </a:pPr>
            <a:r>
              <a:rPr lang="en-US" dirty="0"/>
              <a:t>Experimental Setup and Training</a:t>
            </a:r>
          </a:p>
          <a:p>
            <a:pPr>
              <a:buFont typeface="+mj-lt"/>
              <a:buAutoNum type="arabicPeriod"/>
            </a:pPr>
            <a:r>
              <a:rPr lang="en-US" dirty="0"/>
              <a:t>Results and Performance Evaluation</a:t>
            </a:r>
          </a:p>
          <a:p>
            <a:pPr>
              <a:buFont typeface="+mj-lt"/>
              <a:buAutoNum type="arabicPeriod"/>
            </a:pPr>
            <a:r>
              <a:rPr lang="en-US" dirty="0"/>
              <a:t>Comparison with Baseline / Existing Methods</a:t>
            </a:r>
          </a:p>
          <a:p>
            <a:pPr>
              <a:buFont typeface="+mj-lt"/>
              <a:buAutoNum type="arabicPeriod"/>
            </a:pPr>
            <a:r>
              <a:rPr lang="en-US" dirty="0"/>
              <a:t>Sample Outputs and Demonstration</a:t>
            </a:r>
          </a:p>
          <a:p>
            <a:pPr>
              <a:buFont typeface="+mj-lt"/>
              <a:buAutoNum type="arabicPeriod"/>
            </a:pPr>
            <a:r>
              <a:rPr lang="en-US" dirty="0"/>
              <a:t>Challenges and Limitations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Conclusion and Future Scope</a:t>
            </a:r>
          </a:p>
          <a:p>
            <a:pPr>
              <a:buFont typeface="+mj-lt"/>
              <a:buAutoNum type="arabicPeriod"/>
            </a:pPr>
            <a:r>
              <a:rPr lang="en-US" dirty="0"/>
              <a:t>References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17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763B1-21D1-0983-3CBA-E7CDF3E97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Literature Survey Summary Table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F54D-36F5-ED63-71EA-F3179C4BB1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015036"/>
              </p:ext>
            </p:extLst>
          </p:nvPr>
        </p:nvGraphicFramePr>
        <p:xfrm>
          <a:off x="222662" y="1143000"/>
          <a:ext cx="8698676" cy="3581400"/>
        </p:xfrm>
        <a:graphic>
          <a:graphicData uri="http://schemas.openxmlformats.org/drawingml/2006/table">
            <a:tbl>
              <a:tblPr/>
              <a:tblGrid>
                <a:gridCol w="520000">
                  <a:extLst>
                    <a:ext uri="{9D8B030D-6E8A-4147-A177-3AD203B41FA5}">
                      <a16:colId xmlns:a16="http://schemas.microsoft.com/office/drawing/2014/main" val="1000539875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358554307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925624052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641134693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98201928"/>
                    </a:ext>
                  </a:extLst>
                </a:gridCol>
                <a:gridCol w="1928676">
                  <a:extLst>
                    <a:ext uri="{9D8B030D-6E8A-4147-A177-3AD203B41FA5}">
                      <a16:colId xmlns:a16="http://schemas.microsoft.com/office/drawing/2014/main" val="12501809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N" sz="1100"/>
                        <a:t>Ref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/>
                        <a:t>Author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/>
                        <a:t>Problem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/>
                        <a:t>Dataset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100" dirty="0"/>
                        <a:t>Limitation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4956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[1]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Liu et al., 2020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Neighbour inconsistency in GNN fraud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Four fraud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GraphConsis: consistency-aware sampling + attention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Time evolution not studied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3630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[2]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Liu et al., 2021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Imbalanced fraud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Fraud graph benchmarks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PCGNN: label-balanced + neighbourhood sampling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No temporal behaviour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1453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[3]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Tong &amp; Shen, 2023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Transaction fraud under imbalance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Financial transaction data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HHLNGNN: subgraphs, sampling, self-attention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Temporal change weakly modelled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2702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[4]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Motie &amp; Raahemi, 2024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Review of GNN fraud detection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33 studies, 5 databases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Systematic review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Little edge-level work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902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[5]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Wu &amp; Chao, 2024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Fraud detection with explanation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Supply-chain finance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Heterogeneous GNN + multitask learning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Not bank transactions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79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[6]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Olaniyan, 2025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Financial fraud over time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Kaggle - Online Transaction Fraud Detection Datasets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Graph + temporal encoder + contrastive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Complex architecture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824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[7]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Faruq et al., 2026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Fraud in transaction networks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Transaction networks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Temporal encoding + link prediction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Closest to our idea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5089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[8]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Shi &amp; Tang, 2026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Cyber financial fraud, sparse labels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 dirty="0"/>
                        <a:t>Cyber financial fraud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000"/>
                        <a:t>Spatio-temporal contrastive + uncertainty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dirty="0"/>
                        <a:t>Hard to reproduce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559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9653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763B1-21D1-0983-3CBA-E7CDF3E97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Research Gaps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42CF9-360A-613F-D43E-A5C05A2E2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1800"/>
              <a:t>Neighbour-mismatch and sampling methods (GraphConsis, PCGNN, HHLNGNN) do not model how relations evolve over time.</a:t>
            </a:r>
            <a:endParaRPr lang="en-IN" dirty="0"/>
          </a:p>
          <a:p>
            <a:pPr marL="457200" indent="-457200">
              <a:buFont typeface="+mj-lt"/>
              <a:buAutoNum type="arabicPeriod"/>
            </a:pPr>
            <a:r>
              <a:rPr lang="en-US" sz="1800"/>
              <a:t>Imbalance is handled by sampling alone; it is unclear whether time adds signal beyond balancing.</a:t>
            </a:r>
            <a:endParaRPr lang="en-IN" dirty="0"/>
          </a:p>
          <a:p>
            <a:pPr marL="457200" indent="-457200">
              <a:buFont typeface="+mj-lt"/>
              <a:buAutoNum type="arabicPeriod"/>
            </a:pPr>
            <a:r>
              <a:rPr lang="en-US" sz="1800"/>
              <a:t>Edge-level (transaction) and unsupervised detection are under-explored (2024 review).</a:t>
            </a:r>
            <a:endParaRPr lang="en-IN" dirty="0"/>
          </a:p>
          <a:p>
            <a:pPr marL="457200" indent="-457200">
              <a:buFont typeface="+mj-lt"/>
              <a:buAutoNum type="arabicPeriod"/>
            </a:pPr>
            <a:r>
              <a:rPr lang="en-US" sz="1800"/>
              <a:t>Heterogeneous GNN explanations are domain-specific (supply-chain finance), not bank account transactions.</a:t>
            </a:r>
            <a:endParaRPr lang="en-IN" dirty="0"/>
          </a:p>
          <a:p>
            <a:pPr marL="457200" indent="-457200">
              <a:buFont typeface="+mj-lt"/>
              <a:buAutoNum type="arabicPeriod"/>
            </a:pPr>
            <a:r>
              <a:rPr lang="en-US" sz="1800"/>
              <a:t>Temporal models (GTCT, STCGNN) are complex; Temporal and Relational GNN is closest to our idea.</a:t>
            </a:r>
            <a:endParaRPr lang="en-IN" dirty="0"/>
          </a:p>
          <a:p>
            <a:pPr marL="457200" indent="-457200">
              <a:buFont typeface="+mj-lt"/>
              <a:buAutoNum type="arabicPeriod"/>
            </a:pPr>
            <a:r>
              <a:rPr lang="en-US" sz="1800"/>
              <a:t>Overall gap: early detection of evolving fraud, severe imbalance, leakage-free temporal evaluation and investigator-oriented explanation remain open.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3567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7DF05-179C-E15A-1AB6-5E7E96F20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 Statement and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ADBEB-0E17-57D4-8C20-9964786E9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Problem: fraud hides in relationships between accounts that change over time. Rule-based and tabular models treat each transaction in isolation and miss coordinated, evolving fraud rings; fraud is also rare, which skews labels.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Main objective: build a temporal graph learning system that gives a fraud risk score per account or transaction, updated as new events arrive.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Specific objectives: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Build a temporal transaction graph (accounts = nodes, transactions = edges).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Compare Random Forest, GraphSAGE and a temporal GNN.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Evaluate leakage-free (train on past, test on future) using precision, recall, F1 and ROC-AUC.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Explain each score with reasons and a suspicious-path graph.</a:t>
            </a:r>
          </a:p>
          <a:p>
            <a:pPr>
              <a:buFont typeface="Arial" panose="020B0604020202020204" pitchFamily="34" charset="0"/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Expected output: a 0 to 1 fraud risk score per account, with reasons and the suspicious subgraph, shown in a Streamlit dashboard.</a:t>
            </a:r>
          </a:p>
        </p:txBody>
      </p:sp>
    </p:spTree>
    <p:extLst>
      <p:ext uri="{BB962C8B-B14F-4D97-AF65-F5344CB8AC3E}">
        <p14:creationId xmlns:p14="http://schemas.microsoft.com/office/powerpoint/2010/main" val="895392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8B40-4C16-590B-3912-DCE25DF3B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Proposed System, Methodology and Novelty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9B3C9-969B-0A05-70C8-151AC43DE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Proposed solution: FraudScope, a temporal GNN-based fraud scoring and investigation system.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Workflow: transaction data &gt; preprocessing &gt; graph creation &gt; features &gt; models &gt; fraud score &gt; evaluation &gt; dashboard.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/>
              <a:t>Deep Learning: GraphSAGE and a temporal GNN learn from account relationships and transaction timing; trained with binary cross-entropy.</a:t>
            </a:r>
          </a:p>
          <a:p>
            <a:pPr>
              <a:buFont typeface="Arial" panose="020B0604020202020204" pitchFamily="34" charset="0"/>
              <a:buNone/>
            </a:pPr>
            <a:endParaRPr lang="en-US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Novelty: lightweight temporal GNN compared against tabular and static GNN baselines, with early detection, leakage-free temporal evaluation and a suspicious-path explanation layer.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Rule engine and anomaly scoring from the FundTrace AI prototype (structuring, layering, round-tripping, dormant activation, fan-out, mule behaviour, velocity; Isolation Forest) support the risk reasons.</a:t>
            </a:r>
          </a:p>
        </p:txBody>
      </p:sp>
    </p:spTree>
    <p:extLst>
      <p:ext uri="{BB962C8B-B14F-4D97-AF65-F5344CB8AC3E}">
        <p14:creationId xmlns:p14="http://schemas.microsoft.com/office/powerpoint/2010/main" val="3528141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398D0-DCBF-401E-717B-EFEDA829B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Block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1. Transaction data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Public dataset +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synthetic fraud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0" y="1554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2. Preprocessing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Pandas: clean data,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map accounts to node IDs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1554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3. Graph creation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Accounts = nodes,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transactions = edges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(NetworkX, PyG)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554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4. Features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Node, edge, time: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velocity, gaps, 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3840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5. Models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Random Forest,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GraphSAGE, then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temporal GNN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3840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6. Fraud score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0 to 1 per account;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BCE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3840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7. Evaluation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Train on past, test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on future; P, R, F1,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8. Dashboard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Streamlit: risk score,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reasons, suspicious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graph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240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206240" y="2240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2240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217920" y="4526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206240" y="4526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94560" y="452628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60920" y="2926080"/>
            <a:ext cx="0" cy="91440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2286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42EE5-9F99-BAE2-B8D6-34274186C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Dataset Description and Pre-processing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8F032-9B14-DF64-614D-9FAF8DF17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Dataset: Dummy Data</a:t>
            </a:r>
          </a:p>
          <a:p>
            <a:r>
              <a:rPr lang="en-US" sz="1600" dirty="0"/>
              <a:t>Samples and classes: binary (fraud / normal), highly imbalanced, e.g. about 99,000 normal vs 1,000 fraud [update with actual counts].</a:t>
            </a:r>
          </a:p>
          <a:p>
            <a:r>
              <a:rPr lang="en-US" sz="1600" dirty="0"/>
              <a:t>Split: temporal, not random. Train on past, validate on a later window, test on the future [add exact ratios].</a:t>
            </a:r>
          </a:p>
          <a:p>
            <a:r>
              <a:rPr lang="en-US" sz="1600" dirty="0"/>
              <a:t>Preprocessing: Pandas cleaning, account-to-node-ID mapping, graph construction (NetworkX, PyG); node, edge and time features such as velocity, time gaps and counts.</a:t>
            </a:r>
          </a:p>
          <a:p>
            <a:r>
              <a:rPr lang="en-US" sz="1600" dirty="0"/>
              <a:t>Challenges: class imbalance, label sparsity, temporal leakage.</a:t>
            </a:r>
          </a:p>
          <a:p>
            <a:pPr>
              <a:buNone/>
            </a:pPr>
            <a:endParaRPr lang="en-US" sz="1600" dirty="0"/>
          </a:p>
          <a:p>
            <a:r>
              <a:rPr lang="en-US" sz="1600" dirty="0"/>
              <a:t>[Insert screenshot of dataset sample rows / transaction graph]</a:t>
            </a:r>
          </a:p>
        </p:txBody>
      </p:sp>
      <p:pic>
        <p:nvPicPr>
          <p:cNvPr id="4" name="Screenshot Transactions" descr="Live transaction monitor with risk scores and flagged layering trans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94760"/>
            <a:ext cx="4114800" cy="2314575"/>
          </a:xfrm>
          <a:prstGeom prst="rect">
            <a:avLst/>
          </a:prstGeom>
          <a:ln w="9144">
            <a:solidFill>
              <a:srgbClr val="888888"/>
            </a:solidFill>
          </a:ln>
        </p:spPr>
      </p:pic>
      <p:pic>
        <p:nvPicPr>
          <p:cNvPr id="5" name="Screenshot Graph" descr="Fund flow graph showing suspicious account netwo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794760"/>
            <a:ext cx="4114800" cy="2314575"/>
          </a:xfrm>
          <a:prstGeom prst="rect">
            <a:avLst/>
          </a:prstGeom>
          <a:ln w="9144">
            <a:solidFill>
              <a:srgbClr val="888888"/>
            </a:solidFill>
          </a:ln>
        </p:spPr>
      </p:pic>
    </p:spTree>
    <p:extLst>
      <p:ext uri="{BB962C8B-B14F-4D97-AF65-F5344CB8AC3E}">
        <p14:creationId xmlns:p14="http://schemas.microsoft.com/office/powerpoint/2010/main" val="2212485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D64FD-C805-8DAB-B0D6-B3CFD3796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Deep Learning 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DCFB2-2FAE-AE34-95A1-74274E3BE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Models: Random Forest (tabular baseline), GraphSAGE (static GNN), temporal GNN (time encoding + edge attributes + message passing).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Input: node, edge and time features of the transaction graph. Output: fraud probability 0 to 1 per account.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Loss: binary cross-entropy. Layer sizes and dimensions: [fill from code].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Pretrained model: none, trained from scratch [confirm].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Modification: kept lightweight compared with GTCT and STCGNN so it can be reproduced at mini-project scale.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0"/>
            <a:ext cx="1325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Input graph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(nodes, edges, time)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7400" y="4572000"/>
            <a:ext cx="1325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Time encoding +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edge features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502920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57600" y="4572000"/>
            <a:ext cx="1325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GraphSAGE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message passing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502920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257800" y="4572000"/>
            <a:ext cx="1325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Temporal GNN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layer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83480" y="502920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858000" y="4572000"/>
            <a:ext cx="1325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Sigmoid</a:t>
            </a:r>
          </a:p>
          <a:p>
            <a:pPr algn="ctr"/>
            <a:r>
              <a:rPr sz="1400" b="0">
                <a:solidFill>
                  <a:srgbClr val="000000"/>
                </a:solidFill>
              </a:rPr>
              <a:t>fraud score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0" y="5029200"/>
            <a:ext cx="274320" cy="0"/>
          </a:xfrm>
          <a:prstGeom prst="line">
            <a:avLst/>
          </a:prstGeom>
          <a:ln w="158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960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93821-5A1E-68B4-5575-83DE1A0EE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Tools, Technologies and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0E4B7-7848-5B44-FC44-EFA8C174A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Tools, technologies and environment used in the project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2620659-9062-BED7-0948-8391B75BA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19926"/>
              </p:ext>
            </p:extLst>
          </p:nvPr>
        </p:nvGraphicFramePr>
        <p:xfrm>
          <a:off x="457200" y="1988661"/>
          <a:ext cx="8544296" cy="3169920"/>
        </p:xfrm>
        <a:graphic>
          <a:graphicData uri="http://schemas.openxmlformats.org/drawingml/2006/table">
            <a:tbl>
              <a:tblPr/>
              <a:tblGrid>
                <a:gridCol w="3446076">
                  <a:extLst>
                    <a:ext uri="{9D8B030D-6E8A-4147-A177-3AD203B41FA5}">
                      <a16:colId xmlns:a16="http://schemas.microsoft.com/office/drawing/2014/main" val="3943961488"/>
                    </a:ext>
                  </a:extLst>
                </a:gridCol>
                <a:gridCol w="5098220">
                  <a:extLst>
                    <a:ext uri="{9D8B030D-6E8A-4147-A177-3AD203B41FA5}">
                      <a16:colId xmlns:a16="http://schemas.microsoft.com/office/drawing/2014/main" val="17973740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N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Details to report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74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Programming language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3.10+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996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DL framework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PyTorch Geometric (PyG) [confirm PyTorch version]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192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Development environment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[Google Colab / Jupyter / VS Code]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575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Pandas, NumPy, NetworkX, PyG, scikit-learn (Random Forest, Isolation Forest)</a:t>
                      </a:r>
                      <a:endParaRPr lang="en-IN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0930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Hardware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[CPU / GPU details]</a:t>
                      </a:r>
                      <a:endParaRPr lang="en-IN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29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 tools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Pandas (CSV load), NetworkX to PyG graph conversion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9877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Interface / deployment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Streamlit dashboard (FraudScope); FundTrace AI prototype: React + Vite, Node.js/Express, Socket.io, FastAPI, MongoDB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611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8883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DB740-AD52-F63A-4A82-FE54BE615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Implementation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B4E2A-DE3D-2EB9-FAFC-D7AA9811B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500" dirty="0"/>
              <a:t>Data loading and preprocessing: Pandas cleaning, account-to-node-ID mapping, graph built with NetworkX and PyG.</a:t>
            </a:r>
          </a:p>
          <a:p>
            <a:r>
              <a:rPr lang="en-US" sz="1500" dirty="0"/>
              <a:t>Features: velocity, time gaps, counts, amounts (node, edge and time level).</a:t>
            </a:r>
          </a:p>
          <a:p>
            <a:r>
              <a:rPr lang="en-US" sz="1500" dirty="0"/>
              <a:t>Models: Random Forest and GraphSAGE baselines, then a temporal GNN.</a:t>
            </a:r>
          </a:p>
          <a:p>
            <a:r>
              <a:rPr lang="en-US" sz="1500" dirty="0"/>
              <a:t>Loss and optimizer: binary cross-entropy; optimizer [fill].</a:t>
            </a:r>
          </a:p>
          <a:p>
            <a:r>
              <a:rPr lang="en-US" sz="1500" dirty="0"/>
              <a:t>Learning rate, batch size, epochs: [fill from code].</a:t>
            </a:r>
          </a:p>
          <a:p>
            <a:r>
              <a:rPr lang="en-US" sz="1500" dirty="0"/>
              <a:t>Training and validation: train on past, validate and test on future transactions.</a:t>
            </a:r>
          </a:p>
          <a:p>
            <a:r>
              <a:rPr lang="en-US" sz="1500" dirty="0"/>
              <a:t>Inference: 0 to 1 fraud score per account, updated as new events arrive.</a:t>
            </a:r>
          </a:p>
          <a:p>
            <a:r>
              <a:rPr lang="en-US" sz="1500" dirty="0"/>
              <a:t>Interface: Streamlit dashboard with risk score, reasons and suspicious graph.</a:t>
            </a:r>
          </a:p>
          <a:p>
            <a:pPr>
              <a:buNone/>
            </a:pPr>
            <a:endParaRPr lang="en-US" sz="1500" dirty="0"/>
          </a:p>
          <a:p>
            <a:r>
              <a:rPr lang="en-US" sz="1500" dirty="0"/>
              <a:t>[Insert code snippets / implementation flow screenshot]</a:t>
            </a:r>
          </a:p>
        </p:txBody>
      </p:sp>
    </p:spTree>
    <p:extLst>
      <p:ext uri="{BB962C8B-B14F-4D97-AF65-F5344CB8AC3E}">
        <p14:creationId xmlns:p14="http://schemas.microsoft.com/office/powerpoint/2010/main" val="356836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49758-F713-7BAD-6BA3-B4636C5FA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Experimental Setup and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C5CAE-8F22-7FB7-7AB7-6DB7ABE84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Experiments: Random Forest vs GraphSAGE vs temporal GNN on the same temporal split.</a:t>
            </a:r>
          </a:p>
          <a:p>
            <a:r>
              <a:rPr lang="en-US" sz="1600" dirty="0"/>
              <a:t>Dataset sizes (train / validation / test): [fill].</a:t>
            </a:r>
          </a:p>
          <a:p>
            <a:r>
              <a:rPr lang="en-US" sz="1600" dirty="0"/>
              <a:t>Hyperparameters: [learning rate, hidden size, layers, dropout].</a:t>
            </a:r>
          </a:p>
          <a:p>
            <a:r>
              <a:rPr lang="en-US" sz="1600" dirty="0"/>
              <a:t>Epochs completed: [fill].</a:t>
            </a:r>
          </a:p>
          <a:p>
            <a:r>
              <a:rPr lang="en-US" sz="1600" dirty="0"/>
              <a:t>Training time and hardware: [fill].</a:t>
            </a:r>
          </a:p>
          <a:p>
            <a:r>
              <a:rPr lang="en-US" sz="1600" dirty="0"/>
              <a:t>Imbalance handling and feature variants tested: [fill].</a:t>
            </a:r>
          </a:p>
          <a:p>
            <a:r>
              <a:rPr lang="en-US" sz="1600" dirty="0"/>
              <a:t>Metrics: precision, recall, F1, ROC-AUC (accuracy is not used because it misleads on 99,000 normal vs 1,000 fraud).</a:t>
            </a:r>
          </a:p>
          <a:p>
            <a:r>
              <a:rPr lang="en-US" sz="1600" dirty="0"/>
              <a:t>[Insert training and validation loss curves]</a:t>
            </a:r>
          </a:p>
        </p:txBody>
      </p:sp>
    </p:spTree>
    <p:extLst>
      <p:ext uri="{BB962C8B-B14F-4D97-AF65-F5344CB8AC3E}">
        <p14:creationId xmlns:p14="http://schemas.microsoft.com/office/powerpoint/2010/main" val="2030583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70CAB-215E-562D-5726-B15EDA987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Results and Performance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8863D-982E-7AAB-55DB-7084CFA6F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Metrics reported: precision, recall, F1 and ROC-AUC for each model on the future test set.</a:t>
            </a:r>
            <a:endParaRPr lang="en-IN" dirty="0"/>
          </a:p>
          <a:p>
            <a:pPr>
              <a:buNone/>
            </a:pPr>
            <a:endParaRPr lang="en-IN" dirty="0"/>
          </a:p>
          <a:p>
            <a:r>
              <a:rPr lang="en-US" sz="1800" dirty="0"/>
              <a:t>[Insert results table: Random Forest | GraphSAGE | Temporal GNN]</a:t>
            </a:r>
            <a:endParaRPr lang="en-IN" dirty="0"/>
          </a:p>
          <a:p>
            <a:r>
              <a:rPr lang="en-US" sz="1800" dirty="0"/>
              <a:t>[Insert ROC curve and confusion matrix]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079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05DCA-E7D6-7A96-0908-042F65C0F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with Baseline / Existing Methods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E87A8-270E-5576-F418-AE4BDCF1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Baselines: Random Forest (tabular) and GraphSAGE (static graph); Isolation Forest and rule-based detectors from FundTrace AI as non-deep reference.</a:t>
            </a:r>
          </a:p>
          <a:p>
            <a:r>
              <a:rPr lang="en-US" sz="1600" dirty="0"/>
              <a:t>Metrics: precision, recall, F1, ROC-AUC on the same leakage-free temporal split.</a:t>
            </a:r>
          </a:p>
          <a:p>
            <a:r>
              <a:rPr lang="en-US" sz="1600" dirty="0"/>
              <a:t>Question tested: does temporal behaviour beat tabular and static GNN baselines? Literature (GTCT ablation) suggests temporal encoders add recall and AUC. [State actual outcome]</a:t>
            </a:r>
          </a:p>
        </p:txBody>
      </p:sp>
    </p:spTree>
    <p:extLst>
      <p:ext uri="{BB962C8B-B14F-4D97-AF65-F5344CB8AC3E}">
        <p14:creationId xmlns:p14="http://schemas.microsoft.com/office/powerpoint/2010/main" val="177009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64E9D-9A46-8DC3-681C-2B1AC80B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Sample Outputs and 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56E8E-43B5-1B39-FBC8-4D979B9E7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FraudScope dashboard: risk score, reasons and suspicious graph per account [insert screenshot].</a:t>
            </a:r>
          </a:p>
          <a:p>
            <a:r>
              <a:rPr lang="en-US" sz="1600" dirty="0"/>
              <a:t>FundTrace AI demo: live transaction stream, alert "Layering chain detected - CRITICAL", animated red laundering path in the fund flow graph [insert screenshot].</a:t>
            </a:r>
          </a:p>
          <a:p>
            <a:r>
              <a:rPr lang="en-US" sz="1600" dirty="0"/>
              <a:t>Case workspace with notes and one-click STR PDF report [insert screenshot].</a:t>
            </a:r>
          </a:p>
          <a:p>
            <a:r>
              <a:rPr lang="en-US" sz="1600" dirty="0"/>
              <a:t>Correct and incorrect predictions [insert examples].</a:t>
            </a:r>
          </a:p>
          <a:p>
            <a:r>
              <a:rPr lang="en-US" sz="1600" dirty="0"/>
              <a:t>Confusion matrix and plots [insert].</a:t>
            </a:r>
          </a:p>
        </p:txBody>
      </p:sp>
      <p:pic>
        <p:nvPicPr>
          <p:cNvPr id="4" name="Screenshot Graph" descr="Fund flow graph with red layering path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017520"/>
            <a:ext cx="5120640" cy="2880360"/>
          </a:xfrm>
          <a:prstGeom prst="rect">
            <a:avLst/>
          </a:prstGeom>
          <a:ln w="9144">
            <a:solidFill>
              <a:srgbClr val="888888"/>
            </a:solidFill>
          </a:ln>
        </p:spPr>
      </p:pic>
      <p:pic>
        <p:nvPicPr>
          <p:cNvPr id="5" name="Screenshot Dashboard" descr="Live dashboard with LAYERING alerts and transaction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017520"/>
            <a:ext cx="3108960" cy="1748790"/>
          </a:xfrm>
          <a:prstGeom prst="rect">
            <a:avLst/>
          </a:prstGeom>
          <a:ln w="9144">
            <a:solidFill>
              <a:srgbClr val="888888"/>
            </a:solidFill>
          </a:ln>
        </p:spPr>
      </p:pic>
      <p:pic>
        <p:nvPicPr>
          <p:cNvPr id="6" name="Screenshot Case" descr="Investigation case workspace with notes and STR report butt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3108960" cy="1748790"/>
          </a:xfrm>
          <a:prstGeom prst="rect">
            <a:avLst/>
          </a:prstGeom>
          <a:ln w="9144">
            <a:solidFill>
              <a:srgbClr val="888888"/>
            </a:solidFill>
          </a:ln>
        </p:spPr>
      </p:pic>
    </p:spTree>
    <p:extLst>
      <p:ext uri="{BB962C8B-B14F-4D97-AF65-F5344CB8AC3E}">
        <p14:creationId xmlns:p14="http://schemas.microsoft.com/office/powerpoint/2010/main" val="343332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6D34E-B4AC-10A0-7353-F2DDA7070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Challenges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B4B8C-EB59-0B96-16CA-3539257E5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Severe class imbalance: very few fraud labels, so accuracy misleads and precision / recall / F1 are needed.</a:t>
            </a:r>
          </a:p>
          <a:p>
            <a:r>
              <a:rPr lang="en-US" sz="1800" dirty="0"/>
              <a:t>Avoiding temporal leakage: strict past-to-future split instead of random split.</a:t>
            </a:r>
          </a:p>
          <a:p>
            <a:r>
              <a:rPr lang="en-US" sz="1800" dirty="0"/>
              <a:t>Limited real labelled fraud data, so synthetic fraud patterns were added.</a:t>
            </a:r>
          </a:p>
          <a:p>
            <a:r>
              <a:rPr lang="en-US" sz="1800" dirty="0"/>
              <a:t>Closest paper (Temporal and Relational GNNs) overlaps our idea, so novelty has to be specific; STCGNN and GTCT are complex to reproduce.</a:t>
            </a:r>
          </a:p>
        </p:txBody>
      </p:sp>
    </p:spTree>
    <p:extLst>
      <p:ext uri="{BB962C8B-B14F-4D97-AF65-F5344CB8AC3E}">
        <p14:creationId xmlns:p14="http://schemas.microsoft.com/office/powerpoint/2010/main" val="4196629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7E7F-BD3A-8B7C-E04F-EA88E393F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Scope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63A84-54E3-57F2-4078-7ECE0F9F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500" b="1" dirty="0"/>
              <a:t>Conclusion</a:t>
            </a:r>
          </a:p>
          <a:p>
            <a:r>
              <a:rPr lang="en-US" sz="1500" b="0" dirty="0"/>
              <a:t>Implemented a temporal graph fraud scoring pipeline: transaction graph, features, Random Forest / GraphSAGE / temporal GNN, and a Streamlit dashboard.</a:t>
            </a:r>
          </a:p>
          <a:p>
            <a:r>
              <a:rPr lang="en-US" sz="1500" b="0" dirty="0"/>
              <a:t>Main results: [state actual precision, recall, F1, ROC-AUC].</a:t>
            </a:r>
          </a:p>
          <a:p>
            <a:r>
              <a:rPr lang="en-US" sz="1500" b="0" dirty="0"/>
              <a:t>Objectives met: [state how far].</a:t>
            </a:r>
          </a:p>
          <a:p>
            <a:pPr>
              <a:buNone/>
            </a:pPr>
            <a:endParaRPr lang="en-US" sz="1500" b="0" dirty="0"/>
          </a:p>
          <a:p>
            <a:r>
              <a:rPr lang="en-US" sz="1500" b="1" dirty="0"/>
              <a:t>Future scope</a:t>
            </a:r>
          </a:p>
          <a:p>
            <a:r>
              <a:rPr lang="en-US" sz="1500" b="0" dirty="0"/>
              <a:t>Early detection of evolving fraud and transaction-level (edge) fraud.</a:t>
            </a:r>
          </a:p>
          <a:p>
            <a:r>
              <a:rPr lang="en-US" sz="1500" b="0" dirty="0"/>
              <a:t>Uncertainty-aware risk scores.</a:t>
            </a:r>
          </a:p>
          <a:p>
            <a:r>
              <a:rPr lang="en-US" sz="1500" b="0" dirty="0"/>
              <a:t>Real-world validation and Neo4j for heavy graph workloads (FundTrace roadmap).</a:t>
            </a:r>
          </a:p>
          <a:p>
            <a:r>
              <a:rPr lang="en-US" sz="1500" b="0" dirty="0"/>
              <a:t>Additional features: integration with STR / FIU reporting.</a:t>
            </a:r>
          </a:p>
        </p:txBody>
      </p:sp>
    </p:spTree>
    <p:extLst>
      <p:ext uri="{BB962C8B-B14F-4D97-AF65-F5344CB8AC3E}">
        <p14:creationId xmlns:p14="http://schemas.microsoft.com/office/powerpoint/2010/main" val="2376070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88C27-ECD2-616D-F321-094079243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B0F5F-B39E-02CE-CBA0-5E3556B4F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300" dirty="0"/>
              <a:t>[1] Liu, Dou, Yu, Deng, Peng, "GraphConsis: Alleviating the Inconsistency Problem of Applying GNN to Fraud Detection," ACM SIGIR, 2020.</a:t>
            </a:r>
          </a:p>
          <a:p>
            <a:r>
              <a:rPr lang="en-US" sz="1300" dirty="0"/>
              <a:t>[2] Y. Liu et al., "PCGNN: Pick and Choose, a GNN-based Imbalanced Learning Approach for Fraud Detection," The Web Conference, 2021.</a:t>
            </a:r>
          </a:p>
          <a:p>
            <a:r>
              <a:rPr lang="en-US" sz="1300" dirty="0"/>
              <a:t>[3] G. Tong, J. Shen, "Financial Transaction Fraud Detector Based on Imbalance Learning and GNN," Applied Soft Computing, 2023.</a:t>
            </a:r>
          </a:p>
          <a:p>
            <a:r>
              <a:rPr lang="en-US" sz="1300" dirty="0"/>
              <a:t>[4] S. Motie, B. Raahemi, "Financial Fraud Detection Using GNNs: A Systematic Review," Expert Systems with Applications, 2024.</a:t>
            </a:r>
          </a:p>
          <a:p>
            <a:r>
              <a:rPr lang="en-US" sz="1300" dirty="0"/>
              <a:t>[5] B. Wu, K.-M. Chao, "Heterogeneous GNNs for Fraud Detection and Explanation in Supply Chain Finance," Information Systems, 2024.</a:t>
            </a:r>
          </a:p>
          <a:p>
            <a:r>
              <a:rPr lang="en-US" sz="1300" dirty="0"/>
              <a:t>[6] J. Olaniyan, D. Olaniyan, "Graph-Temporal Contrastive Transformer for Financial Fraud Detection," Algorithms, 2025.</a:t>
            </a:r>
          </a:p>
          <a:p>
            <a:r>
              <a:rPr lang="en-US" sz="1300" dirty="0"/>
              <a:t>[7] M. O. Faruq et al., "Temporal and Relational GNNs for Fraud Detection in Transaction Networks," IEEE Open J. Computer Society, 2026.</a:t>
            </a:r>
          </a:p>
          <a:p>
            <a:r>
              <a:rPr lang="en-US" sz="1300" dirty="0"/>
              <a:t>[8] Y. Shi, M. Tang, "Uncertainty-aware Spatio-Temporal Contrastive GNN for Cyber Financial Fraud Detection," Scientific Reports, 2026.</a:t>
            </a:r>
          </a:p>
          <a:p>
            <a:r>
              <a:rPr lang="en-US" sz="1300" dirty="0"/>
              <a:t>[9] Tools: PyTorch Geometric, NetworkX, scikit-learn, Pandas, Streamlit; FundTrace AI prototype (React, Node.js, FastAPI); dataset [add source].</a:t>
            </a:r>
          </a:p>
        </p:txBody>
      </p:sp>
    </p:spTree>
    <p:extLst>
      <p:ext uri="{BB962C8B-B14F-4D97-AF65-F5344CB8AC3E}">
        <p14:creationId xmlns:p14="http://schemas.microsoft.com/office/powerpoint/2010/main" val="574717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2026</Words>
  <Application>Microsoft Office PowerPoint</Application>
  <PresentationFormat>On-screen Show (4:3)</PresentationFormat>
  <Paragraphs>238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Title Slide</vt:lpstr>
      <vt:lpstr>Content</vt:lpstr>
      <vt:lpstr>Literature Survey Summary Table</vt:lpstr>
      <vt:lpstr>Research Gaps</vt:lpstr>
      <vt:lpstr>Problem Statement and Objectives</vt:lpstr>
      <vt:lpstr>Proposed System, Methodology and Novelty</vt:lpstr>
      <vt:lpstr>System Block Diagram</vt:lpstr>
      <vt:lpstr>Dataset Description and Pre-processing</vt:lpstr>
      <vt:lpstr>Deep Learning Model Architecture</vt:lpstr>
      <vt:lpstr>Tools, Technologies and Environment</vt:lpstr>
      <vt:lpstr>Implementation Details</vt:lpstr>
      <vt:lpstr>Experimental Setup and Training</vt:lpstr>
      <vt:lpstr>Results and Performance Evaluation</vt:lpstr>
      <vt:lpstr>Comparison with Baseline / Existing Methods</vt:lpstr>
      <vt:lpstr>Sample Outputs and Demonstration</vt:lpstr>
      <vt:lpstr>Challenges and Limitations</vt:lpstr>
      <vt:lpstr>Conclusion and Future Scope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subject/>
  <dc:creator/>
  <cp:keywords/>
  <dc:description>generated using python-pptx</dc:description>
  <cp:lastModifiedBy>aiml10</cp:lastModifiedBy>
  <cp:revision>85</cp:revision>
  <dcterms:created xsi:type="dcterms:W3CDTF">2013-01-27T09:14:16Z</dcterms:created>
  <dcterms:modified xsi:type="dcterms:W3CDTF">2026-10-28T10:29:03Z</dcterms:modified>
  <cp:category/>
</cp:coreProperties>
</file>